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7" r:id="rId27"/>
    <p:sldId id="283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/>
          <p:cNvGrpSpPr/>
          <p:nvPr/>
        </p:nvGrpSpPr>
        <p:grpSpPr>
          <a:xfrm>
            <a:off x="0" y="-30477"/>
            <a:ext cx="9067800" cy="6889273"/>
            <a:chOff x="0" y="-30477"/>
            <a:chExt cx="9067800" cy="6889273"/>
          </a:xfrm>
        </p:grpSpPr>
        <p:cxnSp>
          <p:nvCxnSpPr>
            <p:cNvPr id="110" name="Straight Connector 109"/>
            <p:cNvCxnSpPr/>
            <p:nvPr/>
          </p:nvCxnSpPr>
          <p:spPr>
            <a:xfrm rot="16200000" flipH="1">
              <a:off x="-1447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 rot="16200000" flipH="1">
              <a:off x="-1638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rot="5400000">
              <a:off x="-1485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rot="5400000">
              <a:off x="-32385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rot="16200000" flipH="1">
              <a:off x="-33147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rot="16200000" flipH="1">
              <a:off x="-1371600" y="2971800"/>
              <a:ext cx="6858000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 rot="16200000" flipH="1">
              <a:off x="-2819400" y="3200400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 rot="5400000">
              <a:off x="-2705099" y="3238500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 rot="16200000" flipH="1">
              <a:off x="-21336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 rot="16200000" flipH="1">
              <a:off x="-31242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 rot="16200000" flipH="1">
              <a:off x="-1828799" y="3352799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 rot="16200000" flipH="1">
              <a:off x="-28194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 rot="16200000" flipH="1">
              <a:off x="-2438400" y="3124200"/>
              <a:ext cx="6858000" cy="609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 rot="5400000">
              <a:off x="-173164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 rot="5400000">
              <a:off x="-1142048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rot="5400000">
              <a:off x="-9144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rot="5400000">
              <a:off x="-185547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rot="16200000" flipH="1">
              <a:off x="-26431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 rot="16200000" flipH="1">
              <a:off x="-1954530" y="3326130"/>
              <a:ext cx="6858000" cy="20574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 rot="16200000" flipH="1">
              <a:off x="-2362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rot="16200000" flipH="1">
              <a:off x="-21336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rot="16200000" flipH="1">
              <a:off x="10668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rot="16200000" flipH="1">
              <a:off x="8763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rot="5400000">
              <a:off x="1028700" y="3238500"/>
              <a:ext cx="6858000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rot="5400000">
              <a:off x="-723900" y="3314700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rot="16200000" flipH="1">
              <a:off x="-800100" y="3314700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 rot="5400000">
              <a:off x="-152400" y="3429000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 rot="16200000" flipH="1">
              <a:off x="-304800" y="3200400"/>
              <a:ext cx="6858000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 rot="5400000">
              <a:off x="-190499" y="3238500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rot="16200000" flipH="1">
              <a:off x="381000" y="3200400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rot="16200000" flipH="1">
              <a:off x="-609600" y="3276600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rot="16200000" flipH="1">
              <a:off x="685801" y="3352799"/>
              <a:ext cx="6858000" cy="152401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rot="16200000" flipH="1">
              <a:off x="-304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rot="5400000">
              <a:off x="-10287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rot="5400000">
              <a:off x="782955" y="2722245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 rot="5400000">
              <a:off x="1372552" y="3277552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 rot="5400000">
              <a:off x="16002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 rot="5400000">
              <a:off x="659130" y="3227070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rot="16200000" flipH="1">
              <a:off x="-128587" y="3252788"/>
              <a:ext cx="6858000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rot="16200000" flipH="1">
              <a:off x="560070" y="3326130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rot="16200000" flipH="1">
              <a:off x="152400" y="3352800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rot="16200000" flipH="1">
              <a:off x="3810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 rot="16200000" flipH="1">
              <a:off x="2743200" y="3352801"/>
              <a:ext cx="6858000" cy="1524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 rot="16200000" flipH="1">
              <a:off x="2095501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 rot="5400000">
              <a:off x="2705100" y="3238501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 rot="5400000">
              <a:off x="1828801" y="3276600"/>
              <a:ext cx="6857999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/>
            <p:cNvCxnSpPr/>
            <p:nvPr/>
          </p:nvCxnSpPr>
          <p:spPr>
            <a:xfrm rot="16200000" flipH="1">
              <a:off x="1066800" y="3200402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/>
            <p:cNvCxnSpPr/>
            <p:nvPr/>
          </p:nvCxnSpPr>
          <p:spPr>
            <a:xfrm rot="16200000" flipH="1">
              <a:off x="2362201" y="3352800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/>
            <p:cNvCxnSpPr/>
            <p:nvPr/>
          </p:nvCxnSpPr>
          <p:spPr>
            <a:xfrm rot="5400000">
              <a:off x="2646045" y="2722246"/>
              <a:ext cx="6858000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/>
            <p:cNvCxnSpPr/>
            <p:nvPr/>
          </p:nvCxnSpPr>
          <p:spPr>
            <a:xfrm rot="5400000">
              <a:off x="3048952" y="3277553"/>
              <a:ext cx="6858000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>
            <a:xfrm rot="5400000">
              <a:off x="2895600" y="3276601"/>
              <a:ext cx="6858000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>
            <a:xfrm rot="5400000">
              <a:off x="2388870" y="3227071"/>
              <a:ext cx="6858000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>
            <a:xfrm rot="16200000" flipH="1">
              <a:off x="22364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/>
            <p:cNvCxnSpPr/>
            <p:nvPr/>
          </p:nvCxnSpPr>
          <p:spPr>
            <a:xfrm rot="16200000" flipH="1">
              <a:off x="17526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/>
            <p:cNvCxnSpPr/>
            <p:nvPr/>
          </p:nvCxnSpPr>
          <p:spPr>
            <a:xfrm rot="16200000" flipH="1">
              <a:off x="19812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/>
            <p:cNvCxnSpPr/>
            <p:nvPr/>
          </p:nvCxnSpPr>
          <p:spPr>
            <a:xfrm rot="5400000">
              <a:off x="3467100" y="3314701"/>
              <a:ext cx="6858000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/>
            <p:cNvCxnSpPr/>
            <p:nvPr/>
          </p:nvCxnSpPr>
          <p:spPr>
            <a:xfrm rot="16200000" flipH="1">
              <a:off x="3467099" y="3314701"/>
              <a:ext cx="6858000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/>
            <p:cNvCxnSpPr/>
            <p:nvPr/>
          </p:nvCxnSpPr>
          <p:spPr>
            <a:xfrm rot="5400000">
              <a:off x="4038600" y="3429001"/>
              <a:ext cx="6858000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/>
            <p:cNvCxnSpPr/>
            <p:nvPr/>
          </p:nvCxnSpPr>
          <p:spPr>
            <a:xfrm rot="16200000" flipH="1">
              <a:off x="3886200" y="3200401"/>
              <a:ext cx="6858000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/>
            <p:cNvCxnSpPr/>
            <p:nvPr/>
          </p:nvCxnSpPr>
          <p:spPr>
            <a:xfrm rot="5400000">
              <a:off x="4000501" y="3238501"/>
              <a:ext cx="6858000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/>
            <p:cNvCxnSpPr/>
            <p:nvPr/>
          </p:nvCxnSpPr>
          <p:spPr>
            <a:xfrm rot="16200000" flipH="1">
              <a:off x="4572000" y="3200401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/>
            <p:cNvCxnSpPr/>
            <p:nvPr/>
          </p:nvCxnSpPr>
          <p:spPr>
            <a:xfrm rot="16200000" flipH="1">
              <a:off x="3733800" y="3352800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/>
            <p:cNvCxnSpPr/>
            <p:nvPr/>
          </p:nvCxnSpPr>
          <p:spPr>
            <a:xfrm rot="5400000">
              <a:off x="3619500" y="3314700"/>
              <a:ext cx="6858000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/>
            <p:cNvCxnSpPr/>
            <p:nvPr/>
          </p:nvCxnSpPr>
          <p:spPr>
            <a:xfrm rot="16200000" flipH="1">
              <a:off x="4214813" y="3252788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/>
            <p:cNvCxnSpPr/>
            <p:nvPr/>
          </p:nvCxnSpPr>
          <p:spPr>
            <a:xfrm rot="16200000" flipH="1">
              <a:off x="4751070" y="3326131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/>
            <p:cNvCxnSpPr/>
            <p:nvPr/>
          </p:nvCxnSpPr>
          <p:spPr>
            <a:xfrm rot="16200000" flipH="1">
              <a:off x="4343400" y="3352801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/>
            <p:cNvCxnSpPr/>
            <p:nvPr/>
          </p:nvCxnSpPr>
          <p:spPr>
            <a:xfrm rot="16200000" flipH="1">
              <a:off x="4572000" y="3352801"/>
              <a:ext cx="6858000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/>
            <p:cNvCxnSpPr/>
            <p:nvPr/>
          </p:nvCxnSpPr>
          <p:spPr>
            <a:xfrm rot="16200000" flipH="1">
              <a:off x="5257800" y="3352802"/>
              <a:ext cx="68580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/>
            <p:cNvCxnSpPr/>
            <p:nvPr/>
          </p:nvCxnSpPr>
          <p:spPr>
            <a:xfrm rot="16200000" flipH="1">
              <a:off x="5067300" y="3238502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/>
            <p:cNvCxnSpPr/>
            <p:nvPr/>
          </p:nvCxnSpPr>
          <p:spPr>
            <a:xfrm rot="5400000">
              <a:off x="5219700" y="3238502"/>
              <a:ext cx="6858000" cy="381000"/>
            </a:xfrm>
            <a:prstGeom prst="line">
              <a:avLst/>
            </a:prstGeom>
            <a:ln w="5080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/>
            <p:cNvCxnSpPr/>
            <p:nvPr/>
          </p:nvCxnSpPr>
          <p:spPr>
            <a:xfrm rot="16200000" flipH="1">
              <a:off x="4876801" y="3352801"/>
              <a:ext cx="6858000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/>
            <p:cNvCxnSpPr/>
            <p:nvPr/>
          </p:nvCxnSpPr>
          <p:spPr>
            <a:xfrm rot="5400000">
              <a:off x="5527994" y="3318196"/>
              <a:ext cx="6888479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/>
            <p:cNvCxnSpPr/>
            <p:nvPr/>
          </p:nvCxnSpPr>
          <p:spPr>
            <a:xfrm rot="5400000">
              <a:off x="4850130" y="3227072"/>
              <a:ext cx="6858000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/>
            <p:cNvCxnSpPr/>
            <p:nvPr/>
          </p:nvCxnSpPr>
          <p:spPr>
            <a:xfrm rot="16200000" flipH="1">
              <a:off x="4751070" y="3326132"/>
              <a:ext cx="6858000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/>
            <p:nvPr/>
          </p:nvCxnSpPr>
          <p:spPr>
            <a:xfrm rot="5400000">
              <a:off x="5562599" y="3429001"/>
              <a:ext cx="685800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rot="5400000">
              <a:off x="2552700" y="3390900"/>
              <a:ext cx="6858000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/>
            <p:nvPr/>
          </p:nvCxnSpPr>
          <p:spPr>
            <a:xfrm rot="16200000" flipH="1">
              <a:off x="3048000" y="3352800"/>
              <a:ext cx="6858000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/>
            <p:nvPr/>
          </p:nvCxnSpPr>
          <p:spPr>
            <a:xfrm rot="16200000" flipH="1">
              <a:off x="3238500" y="3238500"/>
              <a:ext cx="6858000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/>
            <p:cNvCxnSpPr/>
            <p:nvPr/>
          </p:nvCxnSpPr>
          <p:spPr>
            <a:xfrm rot="5400000">
              <a:off x="2133600" y="3276600"/>
              <a:ext cx="6858000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/>
            <p:cNvCxnSpPr/>
            <p:nvPr/>
          </p:nvCxnSpPr>
          <p:spPr>
            <a:xfrm rot="16200000" flipH="1">
              <a:off x="3148013" y="3252789"/>
              <a:ext cx="6858000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rot="5400000">
              <a:off x="3771900" y="3238500"/>
              <a:ext cx="6858000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/>
            <p:nvPr/>
          </p:nvCxnSpPr>
          <p:spPr>
            <a:xfrm rot="5400000">
              <a:off x="4229100" y="2933700"/>
              <a:ext cx="6858000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/>
            <p:cNvCxnSpPr/>
            <p:nvPr/>
          </p:nvCxnSpPr>
          <p:spPr>
            <a:xfrm rot="16200000" flipH="1">
              <a:off x="1371600" y="3200403"/>
              <a:ext cx="6858000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  <p:sp>
        <p:nvSpPr>
          <p:cNvPr id="113" name="Rectangle 112"/>
          <p:cNvSpPr/>
          <p:nvPr/>
        </p:nvSpPr>
        <p:spPr>
          <a:xfrm>
            <a:off x="0" y="1905000"/>
            <a:ext cx="49530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grpSp>
        <p:nvGrpSpPr>
          <p:cNvPr id="94" name="Group 93"/>
          <p:cNvGrpSpPr/>
          <p:nvPr/>
        </p:nvGrpSpPr>
        <p:grpSpPr>
          <a:xfrm>
            <a:off x="0" y="2057400"/>
            <a:ext cx="4801394" cy="2820988"/>
            <a:chOff x="0" y="2057400"/>
            <a:chExt cx="4801394" cy="2820988"/>
          </a:xfrm>
        </p:grpSpPr>
        <p:cxnSp>
          <p:nvCxnSpPr>
            <p:cNvPr id="117" name="Straight Connector 116"/>
            <p:cNvCxnSpPr/>
            <p:nvPr/>
          </p:nvCxnSpPr>
          <p:spPr>
            <a:xfrm>
              <a:off x="0" y="20574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4876800"/>
              <a:ext cx="4800600" cy="1588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rot="5400000">
              <a:off x="3391694" y="3467100"/>
              <a:ext cx="2818606" cy="794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130425"/>
            <a:ext cx="4419600" cy="1600327"/>
          </a:xfrm>
        </p:spPr>
        <p:txBody>
          <a:bodyPr anchor="b">
            <a:normAutofit/>
          </a:bodyPr>
          <a:lstStyle>
            <a:lvl1pPr algn="l">
              <a:defRPr sz="3600" b="1" cap="none" spc="40" baseline="0">
                <a:ln w="1333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733800"/>
            <a:ext cx="4419600" cy="106680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92"/>
          <p:cNvGrpSpPr/>
          <p:nvPr/>
        </p:nvGrpSpPr>
        <p:grpSpPr>
          <a:xfrm>
            <a:off x="1" y="-30478"/>
            <a:ext cx="9067799" cy="4846320"/>
            <a:chOff x="1" y="-30477"/>
            <a:chExt cx="9067799" cy="4526277"/>
          </a:xfrm>
        </p:grpSpPr>
        <p:cxnSp>
          <p:nvCxnSpPr>
            <p:cNvPr id="8" name="Straight Connector 7"/>
            <p:cNvCxnSpPr/>
            <p:nvPr/>
          </p:nvCxnSpPr>
          <p:spPr>
            <a:xfrm rot="16200000" flipH="1">
              <a:off x="-2716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-4621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-30976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-206236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H="1">
              <a:off x="-213856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16200000" flipH="1">
              <a:off x="-195465" y="1785212"/>
              <a:ext cx="4505731" cy="9144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6200000" flipH="1">
              <a:off x="-164326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-1528964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-95746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6200000" flipH="1">
              <a:off x="-194806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6200000" flipH="1">
              <a:off x="-652664" y="2166211"/>
              <a:ext cx="4505731" cy="152401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16200000" flipH="1">
              <a:off x="-16432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H="1">
              <a:off x="-1790700" y="2019300"/>
              <a:ext cx="4495800" cy="4572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-55551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340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26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-67933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16200000" flipH="1">
              <a:off x="-1467052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16200000" flipH="1">
              <a:off x="-77839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16200000" flipH="1">
              <a:off x="-118606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6200000" flipH="1">
              <a:off x="-95746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16200000" flipH="1">
              <a:off x="22429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16200000" flipH="1">
              <a:off x="20524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2204835" y="2051912"/>
              <a:ext cx="4505731" cy="3810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452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6200000" flipH="1">
              <a:off x="376035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1023735" y="2242139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16200000" flipH="1">
              <a:off x="871335" y="2013812"/>
              <a:ext cx="4505731" cy="4572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985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6200000" flipH="1">
              <a:off x="1557135" y="2013812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16200000" flipH="1">
              <a:off x="5665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6200000" flipH="1">
              <a:off x="1861936" y="2166211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16200000" flipH="1">
              <a:off x="8713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1474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195909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3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2548687" y="2090964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27763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83526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H="1">
              <a:off x="1047548" y="2066200"/>
              <a:ext cx="4505731" cy="352425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H="1">
              <a:off x="1736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16200000" flipH="1">
              <a:off x="1328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16200000" flipH="1">
              <a:off x="1557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16200000" flipH="1">
              <a:off x="39193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16200000" flipH="1">
              <a:off x="3271636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8812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004936" y="2090012"/>
              <a:ext cx="4505730" cy="3048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16200000" flipH="1">
              <a:off x="22429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16200000" flipH="1">
              <a:off x="35383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3822180" y="1535657"/>
              <a:ext cx="4505731" cy="1413510"/>
            </a:xfrm>
            <a:prstGeom prst="line">
              <a:avLst/>
            </a:prstGeom>
            <a:ln>
              <a:solidFill>
                <a:schemeClr val="accent1">
                  <a:alpha val="56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4225087" y="2090965"/>
              <a:ext cx="4505731" cy="302895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4071735" y="2090012"/>
              <a:ext cx="4505731" cy="304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3565005" y="2040482"/>
              <a:ext cx="4505731" cy="40386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16200000" flipH="1">
              <a:off x="34126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 rot="16200000" flipH="1">
              <a:off x="2928735" y="2166212"/>
              <a:ext cx="4505731" cy="152400"/>
            </a:xfrm>
            <a:prstGeom prst="line">
              <a:avLst/>
            </a:prstGeom>
            <a:ln w="57150">
              <a:solidFill>
                <a:schemeClr val="accent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16200000" flipH="1">
              <a:off x="3081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4643235" y="2128112"/>
              <a:ext cx="4505731" cy="228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16200000" flipH="1">
              <a:off x="4643234" y="2128112"/>
              <a:ext cx="4505731" cy="228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5214735" y="2242140"/>
              <a:ext cx="4505731" cy="1588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16200000" flipH="1">
              <a:off x="5062335" y="2013812"/>
              <a:ext cx="4505731" cy="457200"/>
            </a:xfrm>
            <a:prstGeom prst="line">
              <a:avLst/>
            </a:prstGeom>
            <a:ln>
              <a:solidFill>
                <a:schemeClr val="accent1">
                  <a:alpha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5176636" y="2051912"/>
              <a:ext cx="4505731" cy="3810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16200000" flipH="1">
              <a:off x="5748135" y="2013813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16200000" flipH="1">
              <a:off x="49099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4795635" y="2128112"/>
              <a:ext cx="4505731" cy="228600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16200000" flipH="1">
              <a:off x="53909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16200000" flipH="1">
              <a:off x="5927205" y="2139542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 rot="16200000" flipH="1">
              <a:off x="5519535" y="2166212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 rot="16200000" flipH="1">
              <a:off x="5748135" y="2166212"/>
              <a:ext cx="4505731" cy="152400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16200000" flipH="1">
              <a:off x="6433935" y="2166213"/>
              <a:ext cx="4505731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rot="16200000" flipH="1">
              <a:off x="62434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 rot="5400000">
              <a:off x="6395835" y="2051913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6052936" y="2166212"/>
              <a:ext cx="4505731" cy="1524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 rot="5400000">
              <a:off x="6709356" y="2136834"/>
              <a:ext cx="4525755" cy="191133"/>
            </a:xfrm>
            <a:prstGeom prst="line">
              <a:avLst/>
            </a:prstGeom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5400000">
              <a:off x="6026265" y="2040483"/>
              <a:ext cx="4505731" cy="40386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 rot="16200000" flipH="1">
              <a:off x="5927205" y="2139543"/>
              <a:ext cx="4505731" cy="2057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 rot="5400000">
              <a:off x="6738734" y="2242140"/>
              <a:ext cx="4505732" cy="1588"/>
            </a:xfrm>
            <a:prstGeom prst="line">
              <a:avLst/>
            </a:prstGeom>
            <a:ln w="158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rot="5400000">
              <a:off x="3728835" y="2204312"/>
              <a:ext cx="4505731" cy="76200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4224135" y="2166212"/>
              <a:ext cx="4505731" cy="1524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rot="16200000" flipH="1">
              <a:off x="4414635" y="2051912"/>
              <a:ext cx="4505731" cy="381000"/>
            </a:xfrm>
            <a:prstGeom prst="line">
              <a:avLst/>
            </a:prstGeom>
            <a:ln w="19050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3309735" y="2090012"/>
              <a:ext cx="4505731" cy="304800"/>
            </a:xfrm>
            <a:prstGeom prst="line">
              <a:avLst/>
            </a:prstGeom>
            <a:ln w="47625">
              <a:solidFill>
                <a:schemeClr val="accent1">
                  <a:alpha val="63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rot="16200000" flipH="1">
              <a:off x="4324148" y="2066200"/>
              <a:ext cx="4505731" cy="352425"/>
            </a:xfrm>
            <a:prstGeom prst="line">
              <a:avLst/>
            </a:prstGeom>
            <a:ln w="15875">
              <a:solidFill>
                <a:schemeClr val="accent1">
                  <a:alpha val="7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4948035" y="2051912"/>
              <a:ext cx="4505731" cy="381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rot="5400000">
              <a:off x="5405235" y="1747112"/>
              <a:ext cx="4505731" cy="990600"/>
            </a:xfrm>
            <a:prstGeom prst="line">
              <a:avLst/>
            </a:prstGeom>
            <a:ln w="28575">
              <a:solidFill>
                <a:schemeClr val="accent1">
                  <a:alpha val="58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2547735" y="2013814"/>
              <a:ext cx="4505731" cy="457199"/>
            </a:xfrm>
            <a:prstGeom prst="line">
              <a:avLst/>
            </a:prstGeom>
            <a:ln w="38100">
              <a:solidFill>
                <a:schemeClr val="accent1">
                  <a:alpha val="47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Rectangle 93"/>
          <p:cNvSpPr/>
          <p:nvPr/>
        </p:nvSpPr>
        <p:spPr>
          <a:xfrm>
            <a:off x="0" y="4311168"/>
            <a:ext cx="9144000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96" name="Straight Connector 95"/>
          <p:cNvCxnSpPr/>
          <p:nvPr/>
        </p:nvCxnSpPr>
        <p:spPr>
          <a:xfrm>
            <a:off x="0" y="4387368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>
            <a:off x="0" y="6138380"/>
            <a:ext cx="914400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621364"/>
            <a:ext cx="8305800" cy="414649"/>
          </a:xfrm>
        </p:spPr>
        <p:txBody>
          <a:bodyPr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5" name="Title 94"/>
          <p:cNvSpPr>
            <a:spLocks noGrp="1"/>
          </p:cNvSpPr>
          <p:nvPr>
            <p:ph type="title"/>
          </p:nvPr>
        </p:nvSpPr>
        <p:spPr>
          <a:xfrm>
            <a:off x="457200" y="4463568"/>
            <a:ext cx="8305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91" name="Footer Placeholder 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2" name="Slide Number Placeholder 9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0" y="273050"/>
            <a:ext cx="5486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  <p:sp>
        <p:nvSpPr>
          <p:cNvPr id="37" name="Rectangle 36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901952"/>
            <a:ext cx="2377440" cy="1371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tabLst>
                <a:tab pos="3830638" algn="l"/>
              </a:tabLst>
              <a:defRPr lang="en-US" sz="2600" b="1" kern="1200" cap="none" spc="20" baseline="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3552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381000"/>
            <a:ext cx="5562600" cy="5638800"/>
          </a:xfrm>
          <a:solidFill>
            <a:schemeClr val="bg2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  <p:sp>
        <p:nvSpPr>
          <p:cNvPr id="33" name="Rectangle 32"/>
          <p:cNvSpPr/>
          <p:nvPr/>
        </p:nvSpPr>
        <p:spPr>
          <a:xfrm>
            <a:off x="0" y="1563624"/>
            <a:ext cx="2761488" cy="331317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1128157" y="3221339"/>
            <a:ext cx="3017520" cy="794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0" y="1712976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0" y="4733544"/>
            <a:ext cx="2651760" cy="1588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" y="1905000"/>
            <a:ext cx="2377440" cy="1371600"/>
          </a:xfrm>
        </p:spPr>
        <p:txBody>
          <a:bodyPr anchor="b">
            <a:normAutofit/>
          </a:bodyPr>
          <a:lstStyle>
            <a:lvl1pPr algn="l">
              <a:defRPr sz="2600" b="1" cap="none" spc="20" baseline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" y="3276600"/>
            <a:ext cx="2377440" cy="13716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89"/>
          <p:cNvSpPr/>
          <p:nvPr/>
        </p:nvSpPr>
        <p:spPr>
          <a:xfrm>
            <a:off x="149352" y="137160"/>
            <a:ext cx="8869680" cy="6583680"/>
          </a:xfrm>
          <a:prstGeom prst="rect">
            <a:avLst/>
          </a:prstGeom>
          <a:noFill/>
          <a:ln w="19050" cmpd="sng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kern="1200">
              <a:solidFill>
                <a:prstClr val="white"/>
              </a:solidFill>
              <a:latin typeface="Tw Cen M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87EC411-E92E-4C6B-A6DF-F0BEA025D03A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1123" y="6312408"/>
            <a:ext cx="348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1240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6EA1C865-77D7-4C8C-92F7-107A62354367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tabLst>
          <a:tab pos="3830638" algn="l"/>
        </a:tabLst>
        <a:defRPr sz="3600" b="1" kern="1200" cap="none" spc="50">
          <a:ln w="13335" cmpd="sng">
            <a:solidFill>
              <a:schemeClr val="accent1">
                <a:lumMod val="50000"/>
              </a:schemeClr>
            </a:solidFill>
            <a:prstDash val="solid"/>
          </a:ln>
          <a:solidFill>
            <a:schemeClr val="accent6">
              <a:tint val="1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8872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"</a:t>
            </a:r>
            <a:r>
              <a:rPr lang="en-US" dirty="0">
                <a:cs typeface="Times New Roman" pitchFamily="18" charset="0"/>
              </a:rPr>
              <a:t>Data-Driven Insights &amp; Subscriber Prediction for Udemy Courses</a:t>
            </a:r>
            <a:r>
              <a:rPr lang="en-US" dirty="0"/>
              <a:t>"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"Leveraging analytics to understand factors influencing course success."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364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Project Objective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objective of this project is to analyze Udemy Finance &amp; Accounting courses and develop a predictive machine learning model to estimate the number of subscribers based on key course attributes such as ratings, reviews, number of lectures, and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pricing.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perform data cleaning, exploratory analysis, and build a predictive model to understand the key factors affecting course popularity on Udemy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To determine how course rating, reviews, pricing, and content structure influence the success of Finance &amp; Accounting courses on Udemy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99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Data Overview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----------------------------------------------------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Dataset Overview - Udemy Finance &amp; Accounting Courses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----------------------------------------------------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Records (Rows): 13,608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Columns: 13 (after cleaning)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Time Range: Courses created between 2015–2024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Domain: Finance &amp; Accounting (Online Learning)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Price Range: $5 – $156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Subscribers: 0 – 374,836 learners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Source: Udemy Dataset (Project File)</a:t>
            </a:r>
          </a:p>
          <a:p>
            <a:endParaRPr lang="en-US" sz="7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Key Attributes:</a:t>
            </a: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title,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is_paid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price_detail__amount</a:t>
            </a:r>
            <a:endParaRPr lang="en-US" sz="7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discount_price__amount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, created,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published_time</a:t>
            </a:r>
            <a:endParaRPr lang="en-US" sz="7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num_subscribers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 (Target),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avg_rating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num_reviews</a:t>
            </a:r>
            <a:endParaRPr lang="en-US" sz="7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7400" dirty="0" err="1">
                <a:latin typeface="Times New Roman" pitchFamily="18" charset="0"/>
                <a:cs typeface="Times New Roman" pitchFamily="18" charset="0"/>
              </a:rPr>
              <a:t>num_published_lectures</a:t>
            </a:r>
            <a:r>
              <a:rPr lang="en-US" sz="7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7400" dirty="0" err="1" smtClean="0">
                <a:latin typeface="Times New Roman" pitchFamily="18" charset="0"/>
                <a:cs typeface="Times New Roman" pitchFamily="18" charset="0"/>
              </a:rPr>
              <a:t>num_published_practice_tests</a:t>
            </a:r>
            <a:endParaRPr lang="en-US" sz="74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53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14625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77283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Firstly load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udemy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dataset.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df.head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displays the first 5 records of the dataset.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Each row represents a Udemy course and includes details such as pricing, ratings, number of subscribers, and publication timeline.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This helps us understand the dataset structure and begin data cleaning."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8352928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df.info() output shows that our dataset contains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13,608 records and 13 columns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Most columns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numeric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/float)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while a few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 and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types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There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 major missing values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making our data reliable for analysis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.”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df.describe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provides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statistical insights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all numeric columns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404664"/>
            <a:ext cx="6811326" cy="172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4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6735115" cy="162341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1219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 checked for missing values in the dataset.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most important column for prediction was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num_subscribers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as it is our target variable.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To ensure model accuracy, any record where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num_subscribers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was missing was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removed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from the dataset.”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32656"/>
            <a:ext cx="6735115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5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“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created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published_time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columns were converted to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format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pd.to_datetime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This allows us to perform time-based analysis such as course growth trends, launch patterns, and duration analysis.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Converting dates improves accuracy in visualizations and enables time series insights.”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8208912" cy="230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4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“The price-related columns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discount_price__amount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price_detail__amount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were originally in INR.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To standardize the dataset and make financial comparison consistent, prices were converted to USD using an exchange rate of 1 USD = ₹82.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This ensures meaningful analysis, especially for international audience and model performance.”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83" y="260648"/>
            <a:ext cx="834367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2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274638"/>
            <a:ext cx="7416824" cy="194625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348925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“A new feature named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Discount Percentage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was created to measure the discount impact on course pricing.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This helps analyze whether higher discounts attract more subscribers.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Missing discount values were replaced using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median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ensuring stable analysis without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skewness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.”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76672"/>
            <a:ext cx="7416824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76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3813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Extracted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top 10 courses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based on highest number of subscribers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horizontal bar chart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better readability of course titles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Shows most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popular and in-demand courses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Udemy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8208912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084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Selected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top 10 courses with highest user ratings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horizontal bar chart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better comparison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Highlights courses with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best student feedback and quality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Ratings are based on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0–5 scale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82809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Selected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top 5 courses with the highest discount percentage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Visualized using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horizontal bar chart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understand which courses are offering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maximum price reduction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Useful for analyzing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marketing strategies and buyer attraction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82809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6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377728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Visualizes how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Udemy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Finance &amp; Accounting courses have increased over the years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Aggregated course count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year-wise using publication date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line chart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show long-term trend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understand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platform growth and learner demand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7" y="260648"/>
            <a:ext cx="8424937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3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9817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Performed comparison between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paid and free courses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Grouped dataset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is_paid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column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Represented results using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pie chart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understand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course pricing trend on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Udemy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8208912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54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Resampled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course data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year-wise based on publishing date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line chart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display growth of courses over time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track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evolution of course development and learner demand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Shows how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Udemy’s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Finance &amp; Accounting domain has expanded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88640"/>
            <a:ext cx="8352928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4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Predictive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5195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Selected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independent variables (X):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avg_rating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num_reviews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num_published_lectures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discount_price__amount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price_detail__amount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Target variable (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 →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num_subscribers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Split data into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80% training and 20% testing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Trained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Random Forest 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Regressor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(100 trees)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Predicted subscriber values on test data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Evaluated model using: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Mean Squared Error (MSE)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R-squared (R²) Score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68759"/>
            <a:ext cx="8496944" cy="18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5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219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5720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Plotted actual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predicted subscriber values using a scatter graph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Each point represents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course from the test dataset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Points closer to an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imaginary diagonal line (y = x)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indicate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accurate predictions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evaluate how well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Random Forest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performed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51" y="274700"/>
            <a:ext cx="8179705" cy="221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0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“We imported the required machine learning tools from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-Learn.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train_test_split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method was used to divide the dataset,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RandomForestRegressor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was used to build our prediction model,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and finally,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mean_squared_error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r2_score helped us evaluate model performance</a:t>
            </a:r>
            <a:r>
              <a:rPr lang="en-US" dirty="0"/>
              <a:t>.”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2656"/>
            <a:ext cx="8208912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29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00223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3489251"/>
          </a:xfrm>
        </p:spPr>
        <p:txBody>
          <a:bodyPr/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avg_rating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Indicates course quality and learner satisfaction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num_reviews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Reflects engagement and popularity of the course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num_published_lectures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→ Shows the amount of content provided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discount_price__amount → Final discounted selling price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price_detail__amount → Original course price before discount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74" y="332656"/>
            <a:ext cx="8264490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1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91678"/>
            <a:ext cx="8229600" cy="3134485"/>
          </a:xfrm>
        </p:spPr>
        <p:txBody>
          <a:bodyPr/>
          <a:lstStyle/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Divides the dataset into two parts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80% – Training data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(used to train the model)</a:t>
            </a:r>
          </a:p>
          <a:p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20% – Testing data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(used to evaluate model performance)</a:t>
            </a:r>
          </a:p>
          <a:p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test_size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=0.2 → 20% of data is reserved for testing</a:t>
            </a:r>
          </a:p>
          <a:p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random_state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=42 → Ensures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same split every time (reproducibility)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Helps verify whether the model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generalizes to unseen data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0648"/>
            <a:ext cx="835292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2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305720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Divides the dataset into two parts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80% – Training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(used to train the model)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20% – Testing 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(used to evaluate model performance)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test_size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=0.2 → 20% of data is reserved for testing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random_state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=42 → Ensures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same split every time (reproducibility)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Helps verify whether the model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generalizes to unseen data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316" y="319065"/>
            <a:ext cx="8361156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0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273227"/>
          </a:xfrm>
        </p:spPr>
        <p:txBody>
          <a:bodyPr>
            <a:normAutofit fontScale="92500"/>
          </a:bodyPr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RandomForestRegressor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selected as the machine learning algorithm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100 decision trees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n_estimators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100) to make predictions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random_state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=42 ensures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consistent and reproducible results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model.fit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X_train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y_train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→ Model is trained using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training data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Learns patterns and relationships between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course features and number of subscribers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8352928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5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19056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8920"/>
            <a:ext cx="8229600" cy="341724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After training the model, we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use it to make predictions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model.predict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X_test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→ Predicts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subscriber count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test dataset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input features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X_test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generate predicted values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Results are stored in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y_pred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which we later compare with actual values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y_test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This step helps evaluate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how accurately the model can predict course subscribers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6408712" cy="1200318"/>
          </a:xfrm>
          <a:prstGeom prst="rect">
            <a:avLst/>
          </a:prstGeom>
        </p:spPr>
      </p:pic>
      <p:sp>
        <p:nvSpPr>
          <p:cNvPr id="5" name="Arc 4"/>
          <p:cNvSpPr/>
          <p:nvPr/>
        </p:nvSpPr>
        <p:spPr>
          <a:xfrm>
            <a:off x="4211960" y="4581128"/>
            <a:ext cx="914400" cy="91440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26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56125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Evaluates how well the model predicts subscribers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mean_squared_error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() → Measures how far the predictions are from actual values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Lower value = better performance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r2_score() → Indicates how accurately the model explains the variance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Value closer to 1 = higher accuracy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These metrics help determine whether the model is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reliable and efficient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8208912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7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121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Created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scatter plot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compare: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Actual subscriber values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y_test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Predicted subscriber values (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y_pred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purple-colored dots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with slight transparency (alpha=0.6)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Plot helps visually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evaluate model accuracy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points are close to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diagonal line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predictions are good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Indicates how well the model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generalizes to unseen data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60648"/>
            <a:ext cx="8208912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05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Tools &amp; Technologies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Handling &amp; Analysis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Core programming language</a:t>
            </a:r>
          </a:p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Data cleaning,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, handling missing values</a:t>
            </a:r>
          </a:p>
          <a:p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Numerical operations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 Visualization</a:t>
            </a:r>
          </a:p>
          <a:p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Line charts &amp; scatter plots</a:t>
            </a:r>
          </a:p>
          <a:p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Plotly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Express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→ Interactive bar charts, pie charts, and other visual insights</a:t>
            </a: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Machine Learning &amp; Prediction</a:t>
            </a:r>
          </a:p>
          <a:p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-learn (</a:t>
            </a:r>
            <a:r>
              <a:rPr lang="en-IN" b="1" dirty="0" err="1">
                <a:latin typeface="Times New Roman" pitchFamily="18" charset="0"/>
                <a:cs typeface="Times New Roman" pitchFamily="18" charset="0"/>
              </a:rPr>
              <a:t>sklearn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8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Key Insights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Strong growth trend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Number of Finance &amp; Accounting courses increased significantly after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2016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indicating high demand for online learning.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Majority of courses are paid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showing that learners are willing to invest in premium content.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Course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quality strongly influences subscribers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Higher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ratings &amp; reviews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lead to more enrollments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published lectures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higher learner attraction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Excel, Accounting, Business &amp; Financial Analysis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are among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most popular topics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Discounts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help promotional reach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but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high discount alone doesn’t guarantee high subscribers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Forest prediction model performed well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Low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(less prediction error)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R² score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(good accuracy)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26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Business Value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Identifies high-demand course topics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(e.g., Excel, Finance, Accounting), helping platforms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Udemy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decide where to invest for content development.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Helps instructors design better courses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by focusing on factors that increase subscribers: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Improve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ratings &amp; reviews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more structured lecture content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Provide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valuable learning outcomes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Supports pricing strategy decisions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Analysis shows that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quality has more impact than discount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Businesses can price courses appropriately without relying heavily on discounts.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9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analysis shows a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strong upward trend in Finance &amp; Accounting course development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especially after 2016, reflecting the rising demand for online professional education.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Paid courses dominate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the platform, indicating that learners are willing to invest in high-quality knowledge rather than relying on free sources.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Course quality factors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such as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ratings, number of reviews, and number of lectures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significantly influence the number of subscribers.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48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V="1">
            <a:off x="251520" y="2420888"/>
            <a:ext cx="8229600" cy="1867346"/>
          </a:xfrm>
        </p:spPr>
        <p:txBody>
          <a:bodyPr>
            <a:normAutofit/>
          </a:bodyPr>
          <a:lstStyle/>
          <a:p>
            <a:r>
              <a:rPr lang="en-IN" dirty="0" smtClean="0"/>
              <a:t>                       </a:t>
            </a:r>
            <a:r>
              <a:rPr lang="en-IN" sz="60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IN" sz="6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Thatch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創英角ｺﾞｼｯｸUB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hatch">
      <a:fillStyleLst>
        <a:solidFill>
          <a:schemeClr val="phClr"/>
        </a:solidFill>
        <a:gradFill rotWithShape="1">
          <a:gsLst>
            <a:gs pos="0">
              <a:schemeClr val="phClr">
                <a:tint val="79000"/>
                <a:satMod val="180000"/>
              </a:schemeClr>
            </a:gs>
            <a:gs pos="65000">
              <a:schemeClr val="phClr">
                <a:tint val="52000"/>
                <a:satMod val="250000"/>
              </a:schemeClr>
            </a:gs>
            <a:gs pos="100000">
              <a:schemeClr val="phClr">
                <a:tint val="29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8700000"/>
            </a:lightRig>
          </a:scene3d>
          <a:sp3d contourW="12700" prstMaterial="dkEdge">
            <a:bevelT w="0" h="0" prst="relaxedInset"/>
            <a:contourClr>
              <a:schemeClr val="phClr">
                <a:shade val="65000"/>
                <a:satMod val="15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13200000"/>
            </a:lightRig>
          </a:scene3d>
          <a:sp3d prstMaterial="dkEdge">
            <a:bevelT w="63500" h="508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hade val="95000"/>
                <a:satMod val="200000"/>
              </a:schemeClr>
            </a:gs>
            <a:gs pos="53000">
              <a:schemeClr val="phClr">
                <a:shade val="60000"/>
                <a:satMod val="220000"/>
              </a:schemeClr>
            </a:gs>
            <a:gs pos="100000">
              <a:schemeClr val="phClr">
                <a:shade val="45000"/>
                <a:satMod val="22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3000"/>
                <a:shade val="97000"/>
                <a:satMod val="230000"/>
              </a:schemeClr>
            </a:gs>
            <a:gs pos="100000">
              <a:schemeClr val="phClr">
                <a:shade val="35000"/>
                <a:satMod val="250000"/>
              </a:schemeClr>
            </a:gs>
          </a:gsLst>
          <a:path path="circle">
            <a:fillToRect l="15000" t="50000" r="85000" b="6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180</TotalTime>
  <Words>1318</Words>
  <Application>Microsoft Office PowerPoint</Application>
  <PresentationFormat>On-screen Show (4:3)</PresentationFormat>
  <Paragraphs>154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Thatch</vt:lpstr>
      <vt:lpstr>"Data-Driven Insights &amp; Subscriber Prediction for Udemy Courses"</vt:lpstr>
      <vt:lpstr>Project Objective</vt:lpstr>
      <vt:lpstr>Data Overview</vt:lpstr>
      <vt:lpstr>PowerPoint Presentation</vt:lpstr>
      <vt:lpstr>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Predictive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&amp; Technologies</vt:lpstr>
      <vt:lpstr>Key Insights</vt:lpstr>
      <vt:lpstr>Business Value</vt:lpstr>
      <vt:lpstr>Conclusion</vt:lpstr>
      <vt:lpstr>                    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"Data-Driven Insights &amp; Subscriber Prediction for Udemy Courses"</dc:title>
  <dc:creator>ADMIN</dc:creator>
  <cp:lastModifiedBy>ADMIN</cp:lastModifiedBy>
  <cp:revision>23</cp:revision>
  <dcterms:created xsi:type="dcterms:W3CDTF">2025-11-20T09:18:13Z</dcterms:created>
  <dcterms:modified xsi:type="dcterms:W3CDTF">2025-11-22T08:10:33Z</dcterms:modified>
</cp:coreProperties>
</file>